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1FBA94-D8D7-4D21-A069-3DBC03144D5B}">
  <a:tblStyle styleId="{E81FBA94-D8D7-4D21-A069-3DBC03144D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72729"/>
            <a:ext cx="11601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K-전통시장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통합 웹 플랫폼 구축 제안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9942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디지털 지도를 활용한 9개 상인회 및 3,000개 점포 통합 관리 솔루션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10831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제안사: </a:t>
            </a:r>
            <a:r>
              <a:rPr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레츠온클라우드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| 2024.06.11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983259"/>
            <a:ext cx="952500" cy="381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3307109"/>
            <a:ext cx="1160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전통시장의 디지털 전환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611909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3,000여 상점의 방대한 데이터를 체계적으로 시각화하여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방문객에게는 편의를, 상인회에는 효율적인 관리 도구를 제공합니다.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547937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Web-Based &amp; Scalable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995612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별도의 설치가 필요 없는 웹 표준 기반 플랫폼으로 보안과 성능을 동시에 확보합니다.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90725"/>
            <a:ext cx="233779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52500" y="3829942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Cloud Infrastructure: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데이터 용량 걱정 없는 무제한 확장성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4294733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Security: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SSL 보안 통신 및 데이터 암호화 적용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4759523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Performance: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3,000개 핀 로딩 최적화 기술 적용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5851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23308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88098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시스템 아키텍처 및 기술 스택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307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5260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6381750" y="256698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지능형 클러스터링 지도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381750" y="3071812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9개 상인회 구역을 시각화하고, 3,000개 상점을 지도 위에 정밀 표기합니다.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62750" y="3810892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고유 핀 생성: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상점 정보 연동형 마커 제공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62750" y="4275683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확대/축소 최적화: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구역별 상점 자동 그룹화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62750" y="4740473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스마트 검색: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이름, 주소, 업종별 실시간 필터링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83946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304258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769048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통합 지도 및 3,000개 상점 마킹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2244"/>
            <a:ext cx="3492549" cy="2632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42244"/>
            <a:ext cx="3492549" cy="2632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42244"/>
            <a:ext cx="3492549" cy="263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25586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"3,000개 상점의 사진 및 기초 정보 입력을 개발사에서 전담하여 완성도를 높입니다."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14400" y="3204269"/>
            <a:ext cx="29470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기본 정보 (Info)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14400" y="3709094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상점이름, 사진, 연락처, 주소 등 3,000개 업체의 필수 데이터를 완벽하게 세팅합니다.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92699" y="3204269"/>
            <a:ext cx="29470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메뉴 및 정보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92699" y="3709094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이번 단계에서는 메뉴 상세는 제외하되, 추후 업데이트가 가능한 구조로 설계합니다.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470999" y="3204269"/>
            <a:ext cx="29470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방문 리뷰 시스템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470999" y="3709094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비회원도 확인 가능하며, 로그인 사용자는 직접 리뷰를 작성할 수 있는 커뮤니티 기능을 제공합니다.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613719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613719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613719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상점별 고유 상세 페이지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52500" y="1378297"/>
            <a:ext cx="46005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테마별 맛집 투어 코스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62000" y="1378297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2292697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네이버</a:t>
            </a: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 지도 네비게이션 연동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2797522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맛집, 스타상점, 노포투어 등 3가지 대표 테마 코스를 구성하여 방문객의 체류 시간을 증대시킵니다.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62000" y="4930973"/>
            <a:ext cx="457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Naver</a:t>
            </a:r>
            <a:r>
              <a:rPr b="1" i="0" lang="en-US" sz="135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 Maps API 연동으로 실시간 길찾기 기능을 지원합니다.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143000" y="3536602"/>
            <a:ext cx="4191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스타상점 코스 가이드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43000" y="4001392"/>
            <a:ext cx="4191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먹거리 맛집 투어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143000" y="4466183"/>
            <a:ext cx="4191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역사 깊은 노포 코스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6517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02996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94758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9325"/>
            <a:ext cx="64579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315200" y="2219325"/>
            <a:ext cx="452056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홍보 콘텐츠 강화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315200" y="2724150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상인회 및 시장의 매력을 알리는 동영상 콘텐츠를 손쉽게 업로드하고 관리합니다.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28850"/>
            <a:ext cx="64389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696200" y="3463230"/>
            <a:ext cx="3924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유튜브 링크 임베드 기능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96200" y="3928020"/>
            <a:ext cx="3924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공지사항 팝업/최상단 노출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696200" y="4392810"/>
            <a:ext cx="3924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이벤트 게시판 통합 관리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0" y="3491805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3956595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동영상 게시판 및 홍보 시스템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3209776"/>
            <a:ext cx="5238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FREE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4257526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비회원 즉시 사용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81750" y="256698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로그인 시 가치 극대화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381750" y="3071812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앱 설치 없이 즐기는 웹 플랫폼이지만, 회원가입 시 차별화된 혜택을 제공하여 충성 고객을 확보합니다.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762750" y="3810892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즐겨찾기: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단골 상점 및 코스 저장 기능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762750" y="4275683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리뷰 작성: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사진이 포함된 방문 후기 기록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762750" y="4740473"/>
            <a:ext cx="4857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특별 쿠폰: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이벤트 참여 및 포인트/혜택 수령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사용자 경험 및 회원 혜택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0" y="2705100"/>
            <a:ext cx="57150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2334666"/>
            <a:ext cx="5000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실시간 정보 제어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2839491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상인회 담당자가 개발 지식 없이도 전체 상점 및 구역 정보를 손쉽게 관리할 수 있습니다.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248400" y="3048000"/>
            <a:ext cx="528066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시스템 운영 안정성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52500" y="3578572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상점별 기초 정보 일괄 수정/업로드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952500" y="4043362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방문 리뷰 모니터링 및 관리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52500" y="4508152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공지사항 및 팝업 이벤트 설정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952500" y="4972942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동영상 게시물 순서 및 노출 관리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관리자 통합 대시보드 (Admin CMS)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571500" y="4267200"/>
            <a:ext cx="11049000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691580" y="354999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10733" y="3930997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1단계: 분석 및 설계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4435822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요구사항 정의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UI/UX 기획 및 확정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4564260" y="354999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3383413" y="3930997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2단계: 데이터 세팅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3444180" y="4435822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3,000개 상점 정보 DB화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9개 상인회 맵핑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7436941" y="354999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6256094" y="3930997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3단계: 시스템 개발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316860" y="4435822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지도 플랫폼 구축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관리자 CMS 연동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10309621" y="354999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9128774" y="3930997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4단계: QA 및 런칭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189541" y="4435822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테스트 및 보안 점검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최종 런칭 및 교육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구축 프로젝트 로드맵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5703540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* 클라우드 호스팅 및 API 사용료(Google Maps 등)는 실비 기준으로 별도 청구됩니다.</a:t>
            </a:r>
            <a:endParaRPr/>
          </a:p>
        </p:txBody>
      </p:sp>
      <p:graphicFrame>
        <p:nvGraphicFramePr>
          <p:cNvPr id="238" name="Google Shape;238;p23"/>
          <p:cNvGraphicFramePr/>
          <p:nvPr/>
        </p:nvGraphicFramePr>
        <p:xfrm>
          <a:off x="571500" y="2045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{E81FBA94-D8D7-4D21-A069-3DBC03144D5B}</a:tableStyleId>
              </a:tblPr>
              <a:tblGrid>
                <a:gridCol w="2476500"/>
                <a:gridCol w="6057900"/>
                <a:gridCol w="2514600"/>
              </a:tblGrid>
              <a:tr h="577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항목 (Project Item)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상세 내용 (Details)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비용 (Est. Cost)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플랫폼 기초 개발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반응형 웹, 회원 시스템, 기본 아키텍처 설계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￦</a:t>
                      </a:r>
                      <a:r>
                        <a:rPr lang="en-US" sz="120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</a:t>
                      </a: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,000,000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지도 및 점포 시스템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3,000개 핀 마킹, 클러스터링 지도, 3000개 상점 DB화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￦</a:t>
                      </a:r>
                      <a:r>
                        <a:rPr lang="en-US" sz="120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</a:t>
                      </a: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,000,000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콘텐츠 및 기능 모듈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3종 코스 네비게이션, 동영상/공지 게시판, 팝업 시스템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￦10,000,000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데이터 입력 대행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3,000개 상점 기초 정보(이름, 주소, 사진 등) 세팅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￦8,000,000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합계 (총 구축 비용 / VAT 별도)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￦</a:t>
                      </a:r>
                      <a:r>
                        <a:rPr b="1" lang="en-US" sz="1800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73</a:t>
                      </a:r>
                      <a:r>
                        <a:rPr b="1" i="0" lang="en-US" sz="1800" u="none" cap="none" strike="noStrik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,000,000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23"/>
          <p:cNvSpPr/>
          <p:nvPr/>
        </p:nvSpPr>
        <p:spPr>
          <a:xfrm>
            <a:off x="571500" y="2617440"/>
            <a:ext cx="2476500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048000" y="2617440"/>
            <a:ext cx="6057900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9105900" y="2617440"/>
            <a:ext cx="2514600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3184177"/>
            <a:ext cx="2476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048000" y="3184177"/>
            <a:ext cx="6057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9105900" y="3184177"/>
            <a:ext cx="25146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3736627"/>
            <a:ext cx="2476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048000" y="3736627"/>
            <a:ext cx="6057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9105900" y="3736627"/>
            <a:ext cx="25146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4289077"/>
            <a:ext cx="2476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048000" y="4289077"/>
            <a:ext cx="6057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9105900" y="4289077"/>
            <a:ext cx="25146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71500" y="4841527"/>
            <a:ext cx="2476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048000" y="4841527"/>
            <a:ext cx="6057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9105900" y="4841527"/>
            <a:ext cx="25146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5498752"/>
            <a:ext cx="85344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9105900" y="5498752"/>
            <a:ext cx="25146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프로젝트 예상 견적 요약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03302"/>
            <a:ext cx="11049000" cy="140583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295275" y="1648866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감사합니다.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270614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동대문 K-전통시장의 새로운 디지털 비전을 함께 만들어가겠습니다.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952500" y="4184302"/>
            <a:ext cx="10287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궁금하신 사항은 언제든 문의주세요.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952500" y="4553842"/>
            <a:ext cx="1028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Email: </a:t>
            </a:r>
            <a:r>
              <a:rPr lang="en-US" sz="135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jpjung</a:t>
            </a:r>
            <a:r>
              <a:rPr b="0" i="0" lang="en-US" sz="135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@</a:t>
            </a:r>
            <a:r>
              <a:rPr lang="en-US" sz="135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letsoncloud</a:t>
            </a:r>
            <a:r>
              <a:rPr b="0" i="0" lang="en-US" sz="135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.com | Tel: </a:t>
            </a:r>
            <a:r>
              <a:rPr lang="en-US" sz="135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010-9018-0310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